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09" y="1212652"/>
            <a:ext cx="535781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1905595"/>
            <a:ext cx="6429375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350" b="1" spc="-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GrantMatcher AI</a:t>
            </a:r>
            <a:endParaRPr lang="en-US" sz="4350" dirty="0"/>
          </a:p>
        </p:txBody>
      </p:sp>
      <p:sp>
        <p:nvSpPr>
          <p:cNvPr id="5" name="Text 1"/>
          <p:cNvSpPr/>
          <p:nvPr/>
        </p:nvSpPr>
        <p:spPr>
          <a:xfrm>
            <a:off x="1357313" y="2775347"/>
            <a:ext cx="642937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grant discovery system combining semantic search and LLM reasoning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57313" y="3614738"/>
            <a:ext cx="6429375" cy="35718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85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"Helping nonprofits find funding faster with responsible AI"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Inefficient Grant Discovery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016044"/>
            <a:ext cx="3786188" cy="2240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Nonprofit teams and researchers waste </a:t>
            </a:r>
            <a:r>
              <a:rPr lang="en-US" sz="1400" b="1" dirty="0">
                <a:solidFill>
                  <a:srgbClr val="E0E0E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10–20 hours per week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manually 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searching for grants. Keyword-based 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miss relevant opportunities due to 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terminology gaps, leading to missed 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and inefficient resource 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786313" y="1913827"/>
            <a:ext cx="428625" cy="428625"/>
          </a:xfrm>
          <a:prstGeom prst="rect">
            <a:avLst/>
          </a:prstGeom>
          <a:solidFill>
            <a:srgbClr val="39CCCC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3" y="2028127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57813" y="1913827"/>
            <a:ext cx="32146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Search Fatigue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357813" y="2178146"/>
            <a:ext cx="32146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labor costs spent on repetitive, low-yield database queries.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86313" y="2823930"/>
            <a:ext cx="428625" cy="428625"/>
          </a:xfrm>
          <a:prstGeom prst="rect">
            <a:avLst/>
          </a:prstGeom>
          <a:solidFill>
            <a:srgbClr val="39CCCC">
              <a:alpha val="1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3" y="2938230"/>
            <a:ext cx="200025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57813" y="2823930"/>
            <a:ext cx="32146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Terminology Gaps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357813" y="3088249"/>
            <a:ext cx="32146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keyword matching fails to capture semantic intent and context.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786313" y="3734033"/>
            <a:ext cx="428625" cy="428625"/>
          </a:xfrm>
          <a:prstGeom prst="rect">
            <a:avLst/>
          </a:prstGeom>
          <a:solidFill>
            <a:srgbClr val="39CCCC">
              <a:alpha val="10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613" y="3848333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57813" y="3734033"/>
            <a:ext cx="32146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Missed Funding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357813" y="3998351"/>
            <a:ext cx="32146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opportunities are overlooked, stalling social impact projects.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8534995" y="4807744"/>
            <a:ext cx="32325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It's Built: Two-Database Hybrid Architecture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29668"/>
            <a:ext cx="2000250" cy="387548"/>
          </a:xfrm>
          <a:prstGeom prst="rect">
            <a:avLst/>
          </a:prstGeom>
          <a:solidFill>
            <a:srgbClr val="39CCCC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629668"/>
            <a:ext cx="2000250" cy="38754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1F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71750" y="1629668"/>
            <a:ext cx="2000250" cy="387548"/>
          </a:xfrm>
          <a:prstGeom prst="rect">
            <a:avLst/>
          </a:prstGeom>
          <a:solidFill>
            <a:srgbClr val="39CCCC"/>
          </a:solidFill>
          <a:ln/>
        </p:spPr>
      </p:sp>
      <p:sp>
        <p:nvSpPr>
          <p:cNvPr id="7" name="Text 4"/>
          <p:cNvSpPr/>
          <p:nvPr/>
        </p:nvSpPr>
        <p:spPr>
          <a:xfrm>
            <a:off x="2571750" y="1629668"/>
            <a:ext cx="2000250" cy="38754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1F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1629668"/>
            <a:ext cx="4000500" cy="387548"/>
          </a:xfrm>
          <a:prstGeom prst="rect">
            <a:avLst/>
          </a:prstGeom>
          <a:solidFill>
            <a:srgbClr val="39CCC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1629668"/>
            <a:ext cx="4000500" cy="38754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1F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" y="2017216"/>
            <a:ext cx="2000250" cy="433983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71750" y="2017216"/>
            <a:ext cx="2000250" cy="433983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0" y="2017216"/>
            <a:ext cx="4000500" cy="433983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user interface for grant discovery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" y="2451199"/>
            <a:ext cx="8001000" cy="43755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451199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71750" y="2451199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0" y="2451199"/>
            <a:ext cx="400050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Chains and prompt templates for LLM workflows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2888754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Reasoning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71750" y="2888754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 (8B)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0" y="2888754"/>
            <a:ext cx="400050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fit rationale via local Ollama inference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71500" y="3326309"/>
            <a:ext cx="8001000" cy="43755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3326309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Search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571750" y="3326309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0" y="3326309"/>
            <a:ext cx="400050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database for semantic similarity matching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71500" y="3763863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71750" y="3763863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Sentence-Transformers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0" y="3763863"/>
            <a:ext cx="400050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text to vectors (all-MiniLM-L6-v2)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71500" y="4201418"/>
            <a:ext cx="8001000" cy="43755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71500" y="4201418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Storage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71750" y="4201418"/>
            <a:ext cx="200025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0" y="4201418"/>
            <a:ext cx="4000500" cy="43755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and updates all structured grant records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533209" y="4807744"/>
            <a:ext cx="3250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the Grant Data Comes From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1260872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5844" y="1243013"/>
            <a:ext cx="12608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Grants.gov API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57238" y="1557338"/>
            <a:ext cx="35218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grants portal providing comprehensive access to government funding.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757238" y="2014538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Endpoints: search2, fetchOpportunity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57238" y="2243138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federal data access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57238" y="2014538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57238" y="2243138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894" y="1260872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43500" y="1243013"/>
            <a:ext cx="13465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NSF Awards API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864894" y="1557338"/>
            <a:ext cx="35218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Science Foundation database for research and STEM-focused grants.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864894" y="2014538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Scientific innovation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864894" y="2243138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&amp; research funding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864894" y="2014538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864894" y="2243138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3110210"/>
            <a:ext cx="192881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7275" y="3092351"/>
            <a:ext cx="15751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NIH RePORTER API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57238" y="3406676"/>
            <a:ext cx="35218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Institutes of Health repository for health and biomedical research.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57238" y="3863876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Medical &amp; health sciences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757238" y="4092476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Extensive project metadata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57238" y="3863876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57238" y="4092476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94" y="3110210"/>
            <a:ext cx="192881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4931" y="3092351"/>
            <a:ext cx="16734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Private Foundations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864894" y="3406676"/>
            <a:ext cx="35218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 via JSON for major philanthropic organizations.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864894" y="3863876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Ford, Gates Foundation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864894" y="4092476"/>
            <a:ext cx="3521869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Customizable schema support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864894" y="3863876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864894" y="4092476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99695"/>
            <a:ext cx="142875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85813" y="4684514"/>
            <a:ext cx="45773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All three public APIs require no authentication and are free to use.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31423" y="4807744"/>
            <a:ext cx="32682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User Journey: 6 Steps to Funding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271588"/>
            <a:ext cx="2619356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9CCCC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88995" y="1378744"/>
            <a:ext cx="31611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51B">
                    <a:alpha val="2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471613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219" y="1834158"/>
            <a:ext cx="22621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7219" y="2094905"/>
            <a:ext cx="2262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describes project and sets filters (field, deadline, funding range).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62294" y="1271588"/>
            <a:ext cx="2619384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9CCCC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65542" y="1378744"/>
            <a:ext cx="37326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51B">
                    <a:alpha val="2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2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88" y="1471613"/>
            <a:ext cx="25717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0888" y="1834158"/>
            <a:ext cx="226219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440888" y="2094905"/>
            <a:ext cx="226219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Sentence-Transformers converts the description into a high-dimensional vector.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095991" y="1271588"/>
            <a:ext cx="2619356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9CCCC">
                <a:alpha val="3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95639" y="1378744"/>
            <a:ext cx="37683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51B">
                    <a:alpha val="2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2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584" y="1471613"/>
            <a:ext cx="20002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74584" y="1834158"/>
            <a:ext cx="22621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Vector Search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274584" y="2094905"/>
            <a:ext cx="2262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 performs semantic similarity search to find the best matches.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28625" y="3314700"/>
            <a:ext cx="2619356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9CCCC">
                <a:alpha val="3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519344" y="3421856"/>
            <a:ext cx="38576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51B">
                    <a:alpha val="2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2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514725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7219" y="3877270"/>
            <a:ext cx="22621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Metadata Retrieval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07219" y="4138017"/>
            <a:ext cx="2262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fetches structured data: deadline, amount, eligibility, and source URL.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3262294" y="3314700"/>
            <a:ext cx="2619384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9CCCC">
                <a:alpha val="3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367328" y="3421856"/>
            <a:ext cx="37147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51B">
                    <a:alpha val="2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2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3514725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40888" y="3877270"/>
            <a:ext cx="226219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Analysis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440888" y="4138017"/>
            <a:ext cx="22621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 generates a custom fit rationale explaining why each grant matches.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6095991" y="3314700"/>
            <a:ext cx="2619356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9CCCC">
                <a:alpha val="3000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193853" y="3421856"/>
            <a:ext cx="378619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51B">
                    <a:alpha val="2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2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584" y="3514725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74584" y="3877270"/>
            <a:ext cx="22621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5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274584" y="4138017"/>
            <a:ext cx="2262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evaluates relevance scores, rationale, and links with AI disclaimers.</a:t>
            </a:r>
            <a:endParaRPr lang="en-US" sz="850" dirty="0"/>
          </a:p>
        </p:txBody>
      </p:sp>
      <p:sp>
        <p:nvSpPr>
          <p:cNvPr id="34" name="Text 25"/>
          <p:cNvSpPr/>
          <p:nvPr/>
        </p:nvSpPr>
        <p:spPr>
          <a:xfrm>
            <a:off x="8536781" y="4807744"/>
            <a:ext cx="3214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the System Stays Up to Date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360270" y="1271588"/>
            <a:ext cx="714375" cy="714375"/>
          </a:xfrm>
          <a:prstGeom prst="rect">
            <a:avLst/>
          </a:prstGeom>
          <a:solidFill>
            <a:srgbClr val="FF851B">
              <a:alpha val="10000"/>
            </a:srgbClr>
          </a:solidFill>
          <a:ln w="18288">
            <a:solidFill>
              <a:srgbClr val="FF851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83" y="1485900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5731" y="2200275"/>
            <a:ext cx="192345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Weekly API Refresh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71500" y="2586038"/>
            <a:ext cx="229194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update_grants.py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pulls from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Grants.gov, NSF, and NIH. New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are upserted into SQLite to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 single source of truth.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756" y="3278981"/>
            <a:ext cx="133945" cy="21431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14785" y="1271588"/>
            <a:ext cx="714375" cy="714375"/>
          </a:xfrm>
          <a:prstGeom prst="rect">
            <a:avLst/>
          </a:prstGeom>
          <a:solidFill>
            <a:srgbClr val="FF851B">
              <a:alpha val="10000"/>
            </a:srgbClr>
          </a:solidFill>
          <a:ln w="18288">
            <a:solidFill>
              <a:srgbClr val="FF851B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956" y="1485900"/>
            <a:ext cx="250031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28985" y="2200275"/>
            <a:ext cx="20859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Re-embedding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426014" y="2586038"/>
            <a:ext cx="2291944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records where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chroma_synced_at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null or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outdated get re-embedded. This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delta-update approach optimizes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resources.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270" y="3278981"/>
            <a:ext cx="133945" cy="214313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069299" y="1271588"/>
            <a:ext cx="714375" cy="714375"/>
          </a:xfrm>
          <a:prstGeom prst="rect">
            <a:avLst/>
          </a:prstGeom>
          <a:solidFill>
            <a:srgbClr val="FF851B">
              <a:alpha val="10000"/>
            </a:srgbClr>
          </a:solidFill>
          <a:ln w="18288">
            <a:solidFill>
              <a:srgbClr val="FF851B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611" y="1485900"/>
            <a:ext cx="285750" cy="2857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839806" y="2200275"/>
            <a:ext cx="117336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Expiry Filter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6280528" y="2586038"/>
            <a:ext cx="229194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Grants with past deadlines are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automatically excluded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search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at query time, while remaining 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SQLite for historical auditing.</a:t>
            </a:r>
            <a:endParaRPr lang="en-US" sz="950" dirty="0"/>
          </a:p>
        </p:txBody>
      </p:sp>
      <p:sp>
        <p:nvSpPr>
          <p:cNvPr id="18" name="Text 10"/>
          <p:cNvSpPr/>
          <p:nvPr/>
        </p:nvSpPr>
        <p:spPr>
          <a:xfrm>
            <a:off x="8533209" y="4807744"/>
            <a:ext cx="3250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Responsibly: AI Design Principles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71588"/>
            <a:ext cx="571500" cy="571500"/>
          </a:xfrm>
          <a:prstGeom prst="rect">
            <a:avLst/>
          </a:prstGeom>
          <a:solidFill>
            <a:srgbClr val="FF851B">
              <a:alpha val="1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89" y="1428750"/>
            <a:ext cx="289322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1594" y="1271588"/>
            <a:ext cx="30360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321594" y="1600200"/>
            <a:ext cx="303609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match includes a clear relevance score and an LLM-generated rationale explaining the "why" behind the fit.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86313" y="1271588"/>
            <a:ext cx="571500" cy="571500"/>
          </a:xfrm>
          <a:prstGeom prst="rect">
            <a:avLst/>
          </a:prstGeom>
          <a:solidFill>
            <a:srgbClr val="FF851B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328" y="1428750"/>
            <a:ext cx="321469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36406" y="1271588"/>
            <a:ext cx="30360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536406" y="1600200"/>
            <a:ext cx="303609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acts as a discovery engine; users are prompted to verify eligibility directly with grant organizations.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71500" y="3421856"/>
            <a:ext cx="571500" cy="571500"/>
          </a:xfrm>
          <a:prstGeom prst="rect">
            <a:avLst/>
          </a:prstGeom>
          <a:solidFill>
            <a:srgbClr val="FF851B">
              <a:alpha val="1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3" y="3579019"/>
            <a:ext cx="257175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1594" y="3421856"/>
            <a:ext cx="30360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 Execution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321594" y="3750469"/>
            <a:ext cx="303609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LLM inference runs locally via Ollama. Sensitive project descriptions never leave the user's infrastructure.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786313" y="3421856"/>
            <a:ext cx="571500" cy="571500"/>
          </a:xfrm>
          <a:prstGeom prst="rect">
            <a:avLst/>
          </a:prstGeom>
          <a:solidFill>
            <a:srgbClr val="FF851B">
              <a:alpha val="1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475" y="3579019"/>
            <a:ext cx="257175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36406" y="3421856"/>
            <a:ext cx="30360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 Attribution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536406" y="3750469"/>
            <a:ext cx="303609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grant record tracks its origin (API or manual entry) for full auditability and verification of data integrity.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8538567" y="4807744"/>
            <a:ext cx="3196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9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Measuring Success: Project Milestones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85888"/>
            <a:ext cx="3893344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73411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700" y="1528763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Execution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App runs with real data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live APIs.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679156" y="1385888"/>
            <a:ext cx="3893344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573411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36356" y="1528763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Updates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SQLite database updates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system restarts.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71500" y="2314575"/>
            <a:ext cx="3893344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502098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8700" y="2457450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Refresh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Live API populates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on scheduled intervals.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4679156" y="2314575"/>
            <a:ext cx="3893344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502098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36356" y="2457450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Accuracy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Surfaces contextually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grants beyond keywords.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571500" y="3243263"/>
            <a:ext cx="3893344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430786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28700" y="3386138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Rationale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Produces coherent, structured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explanations.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4679156" y="3243263"/>
            <a:ext cx="3893344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3430786"/>
            <a:ext cx="171450" cy="1714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36356" y="3386138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Clarity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Communicates scores, deadlines,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AI limitations clearly.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571500" y="4171950"/>
            <a:ext cx="3893344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359473"/>
            <a:ext cx="171450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28700" y="4314825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Delivery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Documentation, workflow, and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delivered.</a:t>
            </a:r>
            <a:endParaRPr lang="en-US" sz="1000" dirty="0"/>
          </a:p>
        </p:txBody>
      </p:sp>
      <p:sp>
        <p:nvSpPr>
          <p:cNvPr id="25" name="Text 15"/>
          <p:cNvSpPr/>
          <p:nvPr/>
        </p:nvSpPr>
        <p:spPr>
          <a:xfrm>
            <a:off x="8533209" y="4807744"/>
            <a:ext cx="3250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758" y="1196578"/>
            <a:ext cx="446484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75272" y="1737717"/>
            <a:ext cx="4793456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GrantMatcher AI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2175272" y="2430661"/>
            <a:ext cx="479345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2175272" y="3202186"/>
            <a:ext cx="47934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85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"Helping nonprofits find funding faster with responsible AI"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0" y="4254103"/>
            <a:ext cx="9144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0" y="4254103"/>
            <a:ext cx="9144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0" y="4404122"/>
            <a:ext cx="9144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 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LANGCHAIN 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CHROMADB 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SQLITE 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SENTENCE-TRANSFORMERS 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950" spc="2" kern="0" dirty="0">
                <a:solidFill>
                  <a:srgbClr val="39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STREAMLIT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2026-05-12T00:39:45Z</dcterms:created>
  <dcterms:modified xsi:type="dcterms:W3CDTF">2026-05-12T00:39:45Z</dcterms:modified>
</cp:coreProperties>
</file>